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Educação que transforma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D0D8E8"/>
                </a:solidFill>
              </a:rPr>
              <a:t>Análise de dados e modelo preditivo de risco de defasagem
Associação Passos Mágicos · PEDE 2022–2024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FB0C8"/>
                </a:solidFill>
              </a:rPr>
              <a:t>Datathon PosTech — Fase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A Passos Mágicos usa a educação para transformar a vida de crianças e jovens em vulnerabilidade social.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A PEDE mede o desenvolvimento por 7 indicadores: IAN, IDA, IEG, IAA, IPS, IPP e IPV, sintetizados no INDE.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Objetivo: contar a história dos dados de 2022 a 2024 e antecipar quem corre risco de defasagem.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Base analisada: 3.030 registros aluno-ano · 1.661 alunos únicos · chave RA liga a evolução no tempo.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Nota metodológica: usamos a base real (abas 2022/2023/2024). O dicionário fornecido descreve um formato antigo (2020/2021) e foi tratado como referência conceitual.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Adequação ao nível (IAN): a defasagem está caindo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Defasagem moderada/severa caiu de 22,2% (2022) para 8,0% (2024).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Alunos adequados ou adiantados subiram de 30,1% para 53,8%.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Ainda há 93 alunos (2024) em defasagem moderada/severa — foco de atenção.</a:t>
            </a:r>
          </a:p>
        </p:txBody>
      </p:sp>
      <p:pic>
        <p:nvPicPr>
          <p:cNvPr id="5" name="Picture 4" descr="q1_defasagem_por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871728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Desempenho e efetividade do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IDA médio subiu de 6,09 (2022) para 6,35 (2024).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INDE médio: 7,04 → 7,34 → 7,40 — tendência de melhora.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Fases iniciais têm IDA mais alto; há queda nas fases de transição.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Coorte fixa (468 alunos nos 3 anos): melhora se mantém controlando entrada/saída — impacto real.</a:t>
            </a:r>
          </a:p>
        </p:txBody>
      </p:sp>
      <p:pic>
        <p:nvPicPr>
          <p:cNvPr id="5" name="Picture 4" descr="q10_evolucao_indicad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875792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Impacto por pedra: os alunos sobem de nível (Q10)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Pedras superiores (Ametista + Topázio) passaram de 55,6% (2022) para 68,0% (2024).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Na coorte fixa, 130 alunos SUBIRAM de pedra entre 2022 e 2024 (29% de ascensão).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A matriz de transição confirma mobilidade ascendente na classificação — evidência de impacto real.</a:t>
            </a:r>
          </a:p>
        </p:txBody>
      </p:sp>
      <p:pic>
        <p:nvPicPr>
          <p:cNvPr id="5" name="Picture 4" descr="q10_transicao_ped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622187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 que move o desempenho, o ponto de virada e o INDE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Engajamento (IEG) x Aprendizagem (IDA): r = 0,54; IEG x Ponto de Virada (IPV): r = 0,56.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Principais motores do IPV: IPP (0,61), IEG (0,56) e IDA (0,56).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Maiores alavancas do INDE: IDA (0,79), IEG (0,75) e IPV (0,72).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Mensagem: engajar o aluno puxa aprendizagem, ponto de virada e nota global juntos.</a:t>
            </a:r>
          </a:p>
        </p:txBody>
      </p:sp>
      <p:pic>
        <p:nvPicPr>
          <p:cNvPr id="5" name="Picture 4" descr="q8_drivers_i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764032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Combinações que mais elevam o INDE (Q8)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Regressão multivariada recupera os pesos efetivos da fórmula do INDE (R²=1,0): IDA e IEG têm o maior peso.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Efeito é CUMULATIVO: ter IDA+IEG+IPS+IPP acima da mediana eleva o INDE médio para 8,42 vs 6,04 quando nenhum está alto.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Recomendação: agir simultaneamente nesses eixos rende o maior ganho na nota global.</a:t>
            </a:r>
          </a:p>
        </p:txBody>
      </p:sp>
      <p:pic>
        <p:nvPicPr>
          <p:cNvPr id="5" name="Picture 4" descr="q8_combinacoes_i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820818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Sinais de alerta: autoavaliação e psicossocial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Autoavaliação (IAA) tem baixa correlação com o desempenho real (r≈0,12): 444 casos de alunos que se avaliam bem, mas têm IDA baixo.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Psicossocial (IPS) mais baixo ANTECEDE quedas: quem cai no ano seguinte tinha IPS 5,80 vs 6,39 dos demais.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IPP capta dimensão complementar ao IAN (r≈0,12): avaliação psicopedagógica não é redundante com a defasagem.</a:t>
            </a:r>
          </a:p>
        </p:txBody>
      </p:sp>
      <p:pic>
        <p:nvPicPr>
          <p:cNvPr id="5" name="Picture 4" descr="q5_ips_antecede_qu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708152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Modelo preditivo de risco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E8"/>
                </a:solidFill>
              </a:rPr>
              <a:t>Antecipar a piora da defasagem para agir antes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Como o modelo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Alvo preditivo: probabilidade de a defasagem PIORAR no ano seguinte (early-warning).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Usa os indicadores ATUAIS do aluno + idade, fase e tempo de casa.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Feature engineering longitudinal via RA · split estratificado 75/25 · imputação + padronização.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Comparados 3 algoritmos; vencedor: Random Forest.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Cuidado com vazamento: prever a defasagem atual seria trivial (ela deriva de idade/fase); por isso prevemos a MUDANÇA futura.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Resultados do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AUC no teste = 0,88 — boa capacidade de separar quem vai piorar.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Recall da classe de risco = 73%: captura ~3 de cada 4 alunos que piorariam.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Principais preditores: defasagem atual, IAN, idade/fase e — entre os pedagógicos — IPV e IDA.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Entregue como aplicação Streamlit: risco individual com explicação e ações, turma priorizada e painel.</a:t>
            </a:r>
          </a:p>
        </p:txBody>
      </p:sp>
      <p:pic>
        <p:nvPicPr>
          <p:cNvPr id="5" name="Picture 4" descr="modelo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232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Da predição à ação: a ferramenta para a 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Predição individual: além da probabilidade, mostra POR QUE o risco é alto (fatores) e AÇÕES sugeridas.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Turma priorizada: basta enviar a planilha PEDE — a limpeza roda automaticamente e devolve a lista ordenada por risco.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Radar do aluno vs média da coorte para leitura rápida do perfil.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Objetivo de UX: transformar o modelo em uma lista de trabalho acionável, não uma caixa-preta.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 que mais antecipa a piora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7548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Além da posição no ciclo (defasagem/idade/fase), o IPV (ponto de virada) é o indicador pedagógico mais preditivo.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Leitura de negócio: manter o aluno engajado rumo ao ponto de virada tem efeito protetor contra a defasagem.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Baixo IDA reforça o alerta — reforço de aprendizagem deve acompanhar o suporte socioemocional.</a:t>
            </a:r>
          </a:p>
        </p:txBody>
      </p:sp>
      <p:pic>
        <p:nvPicPr>
          <p:cNvPr id="5" name="Picture 4" descr="modelo_importanc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75387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Recomendações à Passos Mágicos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8E44AD"/>
                </a:solidFill>
              </a:rPr>
              <a:t>• 1. Triagem anual com o modelo: priorizar acompanhamento dos alunos sinalizados em risco.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2. Monitorar IPS como termômetro precoce — quedas psicossociais antecedem quedas acadêmicas.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3. Investir em engajamento (IEG/IPV): é a alavanca de maior retorno sobre o INDE.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4. Atenção às fases de transição, onde o IDA cai.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5. Trabalhar a autopercepção dos alunos com IAA alto e IDA baixo.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404040"/>
                </a:solidFill>
              </a:rPr>
              <a:t>• 6. Padronizar a coleta (fase, gênero, IPP) para fortalecer análises futuras.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Obrigado!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0D8E8"/>
                </a:solidFill>
              </a:rPr>
              <a:t>Aplicação, código e notebook disponíveis no repositório do projeto.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