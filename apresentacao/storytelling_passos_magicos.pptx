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784039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Educação que transforma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5D3E8"/>
                </a:solidFill>
              </a:rPr>
              <a:t>Como os dados da PEDE mostram o impacto do programa — e antecipam
quais alunos precisam de ajuda antes da queda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257800"/>
            <a:ext cx="2926080" cy="54864"/>
          </a:xfrm>
          <a:prstGeom prst="rect">
            <a:avLst/>
          </a:prstGeom>
          <a:solidFill>
            <a:srgbClr val="E9A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4A0"/>
                </a:solidFill>
              </a:rPr>
              <a:t>Associação Passos Mágicos · PEDE 2022–2024
Datathon PosTech — Fase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Três mensagens, se você só ler este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Resumo executivo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463040"/>
            <a:ext cx="566928" cy="566928"/>
          </a:xfrm>
          <a:prstGeom prst="ellipse">
            <a:avLst/>
          </a:prstGeom>
          <a:solidFill>
            <a:srgbClr val="E9A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45336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5FA8"/>
                </a:solidFill>
              </a:rPr>
              <a:t>O programa funciona.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01952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F4C"/>
                </a:solidFill>
              </a:rPr>
              <a:t>A defasagem moderada/severa caiu de 22,2% para 8,0% em dois anos, e a melhora se confirma na coorte fixa — não é troca de alunos.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035808"/>
            <a:ext cx="566928" cy="566928"/>
          </a:xfrm>
          <a:prstGeom prst="ellipse">
            <a:avLst/>
          </a:prstGeom>
          <a:solidFill>
            <a:srgbClr val="E9A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18104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01752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5FA8"/>
                </a:solidFill>
              </a:rPr>
              <a:t>Engajamento é a maior alavanca.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47472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F4C"/>
                </a:solidFill>
              </a:rPr>
              <a:t>IEG e IDA puxam juntos o ponto de virada e a nota global (INDE). O efeito é cumulativo: agir em vários eixos rende muito mais.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08576"/>
            <a:ext cx="566928" cy="566928"/>
          </a:xfrm>
          <a:prstGeom prst="ellipse">
            <a:avLst/>
          </a:prstGeom>
          <a:solidFill>
            <a:srgbClr val="E9A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690872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590288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5FA8"/>
                </a:solidFill>
              </a:rPr>
              <a:t>Agora dá para agir antes da queda.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047488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F4C"/>
                </a:solidFill>
              </a:rPr>
              <a:t>Um modelo preditivo identifica ~3 em cada 4 alunos que piorariam no ano seguinte, entregue como aplicação pronta para a equipe usar.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1</a:t>
            </a:r>
          </a:p>
        </p:txBody>
      </p:sp>
      <p:pic>
        <p:nvPicPr>
          <p:cNvPr id="18" name="Picture 17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O desafio: transformar 3 anos de avaliações em decisão pedagógica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Contexto 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A Passos Mágicos usa a educação para mudar a vida de crianças em vulnerabilidade.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A PEDE mede 7 indicadores (IAN, IDA, IEG, IAA, IPS, IPP, IPV), sintetizados no INDE.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Base analisada: 3.030 registros aluno-ano · 1.661 alunos · 2022 a 2024.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A chave RA permite acompanhar o mesmo aluno ao longo dos anos.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Nota metodológica: usamos a base real (abas 2022/2023/2024); o dicionário fornecido descreve um formato antigo e serviu como referência conceitual.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2</a:t>
            </a:r>
          </a:p>
        </p:txBody>
      </p:sp>
      <p:pic>
        <p:nvPicPr>
          <p:cNvPr id="7" name="Picture 6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Dois anos de programa, em três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O impacto medido pela PEDE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94A0"/>
                </a:solidFill>
              </a:rPr>
              <a:t>2022: 22,2%  →  2024: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2E9E5B"/>
                </a:solidFill>
              </a:rPr>
              <a:t>8,0%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33F4C"/>
                </a:solidFill>
              </a:rPr>
              <a:t>Defasagem moderada/severa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67328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4A0"/>
                </a:solidFill>
              </a:rPr>
              <a:t>queda de 14 pontos percentuais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19659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94A0"/>
                </a:solidFill>
              </a:rPr>
              <a:t>2022: 55,6%  →  2024: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24231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A5FA8"/>
                </a:solidFill>
              </a:rPr>
              <a:t>68,0%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383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33F4C"/>
                </a:solidFill>
              </a:rPr>
              <a:t>Alunos em pedras superiores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767328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4A0"/>
                </a:solidFill>
              </a:rPr>
              <a:t>Ametista + Topázio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1856" y="24231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E9A23B"/>
                </a:solidFill>
              </a:rPr>
              <a:t>29%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1856" y="3383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33F4C"/>
                </a:solidFill>
              </a:rPr>
              <a:t>Subiram de pedra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1856" y="3767328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4A0"/>
                </a:solidFill>
              </a:rPr>
              <a:t>na coorte fixa de 468 alunos (2022→2024)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892040"/>
            <a:ext cx="10515600" cy="27432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F4C"/>
                </a:solidFill>
              </a:rPr>
              <a:t>A coorte fixa (mesmos alunos nos três anos) confirma que a melhora é real — não é efeito da entrada e saída de alunos.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3</a:t>
            </a:r>
          </a:p>
        </p:txBody>
      </p:sp>
      <p:pic>
        <p:nvPicPr>
          <p:cNvPr id="19" name="Picture 18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A defasagem caiu pela metade — e mais que dobrou o grupo adequado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Adequação ao nível (IAN)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Defasagem moderada/severa: 22,2% (2022) → 8,0% (2024).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Alunos adequados ou adiantados: 30,1% → 53,8%.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Ainda restam 93 alunos em defasagem moderada/severa.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→ Esse é exatamente o grupo que o modelo preditivo ajuda a priorizar.</a:t>
            </a:r>
          </a:p>
        </p:txBody>
      </p:sp>
      <p:pic>
        <p:nvPicPr>
          <p:cNvPr id="6" name="Picture 5" descr="q1_defasagem_por_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919041"/>
            <a:ext cx="6172200" cy="34313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4</a:t>
            </a:r>
          </a:p>
        </p:txBody>
      </p:sp>
      <p:pic>
        <p:nvPicPr>
          <p:cNvPr id="8" name="Picture 7" descr="logo_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Os alunos sobem de nível: 130 mudaram de pedra para melhor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Efetividade por pedra (Quartzo → Topázio)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Pedras superiores (Ametista + Topázio): 55,6% → 68,0%.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Na coorte fixa, 130 alunos subiram de pedra entre 2022 e 2024.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A matriz de transição mostra mobilidade ascendente consistente.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→ Evidência direta do impacto do programa, aluno a aluno.</a:t>
            </a:r>
          </a:p>
        </p:txBody>
      </p:sp>
      <p:pic>
        <p:nvPicPr>
          <p:cNvPr id="6" name="Picture 5" descr="q10_transicao_ped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8442" y="1371600"/>
            <a:ext cx="5810994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5</a:t>
            </a:r>
          </a:p>
        </p:txBody>
      </p:sp>
      <p:pic>
        <p:nvPicPr>
          <p:cNvPr id="8" name="Picture 7" descr="logo_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Desempenho e nota global crescem de forma consistente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Desempenho acadêmico (IDA) e INDE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INDE médio: 7,04 → 7,34 → 7,40.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IDA médio: 6,09 (2022) → 6,35 (2024).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Fases iniciais têm IDA mais alto; há queda nas fases de transição.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→ As transições de fase merecem acompanhamento reforçado.</a:t>
            </a:r>
          </a:p>
        </p:txBody>
      </p:sp>
      <p:pic>
        <p:nvPicPr>
          <p:cNvPr id="6" name="Picture 5" descr="q10_evolucao_indic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927002"/>
            <a:ext cx="6172200" cy="34154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6</a:t>
            </a:r>
          </a:p>
        </p:txBody>
      </p:sp>
      <p:pic>
        <p:nvPicPr>
          <p:cNvPr id="8" name="Picture 7" descr="logo_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Engajar o aluno move desempenho, ponto de virada e nota global juntos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O que move os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IEG × IDA: r = 0,54 · IEG × IPV: r = 0,56.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Maiores alavancas do INDE: IDA (0,79), IEG (0,75), IPV (0,72).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Principais motores do IPV: IPP (0,61), IEG (0,56), IDA (0,56).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→ Engajamento é o ponto de entrada de maior retorno.</a:t>
            </a:r>
          </a:p>
        </p:txBody>
      </p:sp>
      <p:pic>
        <p:nvPicPr>
          <p:cNvPr id="6" name="Picture 5" descr="q8_drivers_in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77200"/>
            <a:ext cx="6172200" cy="39150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7</a:t>
            </a:r>
          </a:p>
        </p:txBody>
      </p:sp>
      <p:pic>
        <p:nvPicPr>
          <p:cNvPr id="8" name="Picture 7" descr="logo_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O ganho é cumulativo: agir em vários eixos vale mais que em um só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Multidimensionalidade dos indicadores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Com IDA+IEG+IPS+IPP acima da mediana, o INDE médio vai a 8,42.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Quando nenhum está alto, o INDE médio fica em 6,04.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A regressão recupera os pesos da fórmula do INDE (R²=1,0): IDA e IEG pesam mais.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→ Intervenções combinadas rendem mais que esforço isolado.</a:t>
            </a:r>
          </a:p>
        </p:txBody>
      </p:sp>
      <p:pic>
        <p:nvPicPr>
          <p:cNvPr id="6" name="Picture 5" descr="q8_combinacoes_in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812627"/>
            <a:ext cx="6172200" cy="3644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8</a:t>
            </a:r>
          </a:p>
        </p:txBody>
      </p:sp>
      <p:pic>
        <p:nvPicPr>
          <p:cNvPr id="8" name="Picture 7" descr="logo_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O psicossocial cai antes do desempenho — é o alerta mais precoce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Sinais de alerta (IPS, IAA, IPP)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Quem piora no ano seguinte já tinha IPS mais baixo: 5,80 vs 6,39.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Autoavaliação descolada da realidade: 444 alunos com IAA≥8 e IDA≤5.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IPP capta dimensão complementar ao IAN (r≈0,12), não redundante.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→ Monitorar IPS funciona como termômetro antecipado.</a:t>
            </a:r>
          </a:p>
        </p:txBody>
      </p:sp>
      <p:pic>
        <p:nvPicPr>
          <p:cNvPr id="6" name="Picture 5" descr="q5_ips_antecede_qu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522731"/>
            <a:ext cx="6172200" cy="42240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9</a:t>
            </a:r>
          </a:p>
        </p:txBody>
      </p:sp>
      <p:pic>
        <p:nvPicPr>
          <p:cNvPr id="8" name="Picture 7" descr="logo_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Do diagnóstico à antecipação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9A23B"/>
                </a:solidFill>
              </a:rPr>
              <a:t>Um modelo que aponta quem vai piorar — antes de piorar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Prevemos a mudança futura, não o retrato de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Como o modelo foi construído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Alvo: probabilidade de a defasagem PIORAR no ano seguinte.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Usa os indicadores atuais do aluno + idade, fase e tempo de casa.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Feature engineering longitudinal via RA · split estratificado 75/25.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Três algoritmos comparados; vencedor: Random Forest.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Cuidado com vazamento: prever a defasagem atual seria trivial (ela deriva de idade e fase) — por isso prevemos a mudança.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11</a:t>
            </a:r>
          </a:p>
        </p:txBody>
      </p:sp>
      <p:pic>
        <p:nvPicPr>
          <p:cNvPr id="7" name="Picture 6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O modelo antecipa 3 em cada 4 alunos que vão piorar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Resultados e transparência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A5FA8"/>
                </a:solidFill>
              </a:rPr>
              <a:t>0,88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33F4C"/>
                </a:solidFill>
              </a:rPr>
              <a:t>AUC (teste)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67328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4A0"/>
                </a:solidFill>
              </a:rPr>
              <a:t>capacidade de separar quem piora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24231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2E9E5B"/>
                </a:solidFill>
              </a:rPr>
              <a:t>73%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3383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33F4C"/>
                </a:solidFill>
              </a:rPr>
              <a:t>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3767328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4A0"/>
                </a:solidFill>
              </a:rPr>
              <a:t>dos que pioram, quantos capturamos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1856" y="24231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E9A23B"/>
                </a:solidFill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1856" y="3383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33F4C"/>
                </a:solidFill>
              </a:rPr>
              <a:t>Precisão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1856" y="3767328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4A0"/>
                </a:solidFill>
              </a:rPr>
              <a:t>dos sinalizados, quantos de fato pioram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92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F4C"/>
                </a:solidFill>
              </a:rPr>
              <a:t>Assumindo a limitação: cerca de metade dos alunos sinalizados são falsos alarmes. Por isso a ferramenta é de TRIAGEM — ela ordena a fila de atenção, e a decisão final continua sendo da equipe pedagógica.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12</a:t>
            </a:r>
          </a:p>
        </p:txBody>
      </p:sp>
      <p:pic>
        <p:nvPicPr>
          <p:cNvPr id="16" name="Picture 15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Entre os indicadores pedagógicos, o ponto de virada é o que mais antecipa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O que mais pesa na previsão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Peso maior: defasagem atual, IAN, idade e fase (posição no ciclo).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Entre os pedagógicos, IPV é o mais preditivo — seguido de IDA.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A5FA8"/>
                </a:solidFill>
              </a:rPr>
              <a:t>▪  Leitura de negócio: manter o aluno rumo ao ponto de virada protege.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333F4C"/>
                </a:solidFill>
              </a:rPr>
              <a:t>▪  → Reforço de aprendizagem deve andar junto com suporte socioemocional.</a:t>
            </a:r>
          </a:p>
        </p:txBody>
      </p:sp>
      <p:pic>
        <p:nvPicPr>
          <p:cNvPr id="6" name="Picture 5" descr="modelo_importa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50818"/>
            <a:ext cx="6172200" cy="39678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13</a:t>
            </a:r>
          </a:p>
        </p:txBody>
      </p:sp>
      <p:pic>
        <p:nvPicPr>
          <p:cNvPr id="8" name="Picture 7" descr="logo_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Entregue como ferramenta, não como relatório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Aplicação publicada e pronta para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A5FA8"/>
                </a:solidFill>
              </a:rPr>
              <a:t>▪  Simulador: risco de um perfil, com o PORQUÊ e as ações sugeridas.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A5FA8"/>
                </a:solidFill>
              </a:rPr>
              <a:t>▪  Turma priorizada: envie a planilha PEDE e receba a fila de atenção.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3F4C"/>
                </a:solidFill>
              </a:rPr>
              <a:t>▪  Histórico do aluno: trajetória 2022–2024 e risco atual.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3F4C"/>
                </a:solidFill>
              </a:rPr>
              <a:t>▪  Panorama: indicadores, pedras e evidências de impacto.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3F4C"/>
                </a:solidFill>
              </a:rPr>
              <a:t>▪  Sobre o modelo: desempenho, limitações e uso responsável.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3F4C"/>
                </a:solidFill>
              </a:rPr>
              <a:t>▪  Relatório em PDF por aluno, pronto para a reunião pedagógica.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1031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33F4C"/>
                </a:solidFill>
              </a:rPr>
              <a:t>Acesse a aplicação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60604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A5FA8"/>
                </a:solidFill>
              </a:rPr>
              <a:t>paapps-magicos-datathon-mbjdeucxaqr7pkuodmftr6.streamlit.app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379476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4A0"/>
                </a:solidFill>
              </a:rPr>
              <a:t>Publicada no Streamlit
Community Cloud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14</a:t>
            </a:r>
          </a:p>
        </p:txBody>
      </p:sp>
      <p:pic>
        <p:nvPicPr>
          <p:cNvPr id="10" name="Picture 9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Três prioridades para a Passos Mágicos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5D3E8"/>
                </a:solidFill>
              </a:rPr>
              <a:t>Recomendações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82296" cy="868680"/>
          </a:xfrm>
          <a:prstGeom prst="rect">
            <a:avLst/>
          </a:prstGeom>
          <a:solidFill>
            <a:srgbClr val="E9A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630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5FA8"/>
                </a:solidFill>
              </a:rPr>
              <a:t>1. Triagem anual com o modelo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92807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F4C"/>
                </a:solidFill>
              </a:rPr>
              <a:t>Rodar a lista priorizada no início do ciclo e direcionar o acompanhamento para quem tem maior risco.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743200"/>
            <a:ext cx="82296" cy="868680"/>
          </a:xfrm>
          <a:prstGeom prst="rect">
            <a:avLst/>
          </a:prstGeom>
          <a:solidFill>
            <a:srgbClr val="E9A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5FA8"/>
                </a:solidFill>
              </a:rPr>
              <a:t>2. IPS como termômetro precoce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2724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F4C"/>
                </a:solidFill>
              </a:rPr>
              <a:t>Acompanhar quedas psicossociais: elas antecedem as quedas acadêmicas em um ano.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977639"/>
            <a:ext cx="82296" cy="868680"/>
          </a:xfrm>
          <a:prstGeom prst="rect">
            <a:avLst/>
          </a:prstGeom>
          <a:solidFill>
            <a:srgbClr val="E9A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3192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5FA8"/>
                </a:solidFill>
              </a:rPr>
              <a:t>3. Investir em engajamento (IEG/IPV)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6168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F4C"/>
                </a:solidFill>
              </a:rPr>
              <a:t>É a alavanca de maior retorno sobre a nota global — e protege contra a defasagem.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349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4A0"/>
                </a:solidFill>
              </a:rPr>
              <a:t>Também recomendamos: atenção às fases de transição (onde o IDA cai), trabalho de autopercepção com alunos de IAA alto e IDA baixo, e padronização da coleta (fase, gênero, IPP) para fortalecer as próximas análises.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4A0"/>
                </a:solidFill>
              </a:rPr>
              <a:t>15</a:t>
            </a:r>
          </a:p>
        </p:txBody>
      </p:sp>
      <p:pic>
        <p:nvPicPr>
          <p:cNvPr id="16" name="Picture 15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6172200"/>
            <a:ext cx="65414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1427231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377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5D3E8"/>
                </a:solidFill>
              </a:rPr>
              <a:t>▪  Validar a lista priorizada de 2024 com as equipes pedagógica e psicossocial.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5876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5D3E8"/>
                </a:solidFill>
              </a:rPr>
              <a:t>▪  Usar o app no início do próximo ciclo e comparar o previsto com o observado.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25696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5D3E8"/>
                </a:solidFill>
              </a:rPr>
              <a:t>▪  Reavaliar o modelo a cada nova rodada da PEDE.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9A23B"/>
                </a:solidFill>
              </a:rPr>
              <a:t>Aplicação: paapps-magicos-datathon-mbjdeucxaqr7pkuodmftr6.streamlit.app  ·  Código, notebook e análises no repositório do projeto.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