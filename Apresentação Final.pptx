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a9f3d36d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6a9f3d36d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a9f3d36d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6a9f3d36d_2_8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6a9f3d36d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6a9f3d36d_2_10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6a9f3d36d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6a9f3d36d_2_11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6a9f3d36d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6a9f3d36d_2_13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a9f3d36d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6a9f3d36d_2_14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6a9f3d36d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6a9f3d36d_2_15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6a9f3d36d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6a9f3d36d_2_16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6a9f3d36d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f6a9f3d36d_2_1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a9f3d36d_2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6a9f3d36d_2_18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6a9f3d36d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6a9f3d36d_2_19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a9f3d36d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6a9f3d36d_2_20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6a9f3d36d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6a9f3d36d_2_21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6a9f3d36d_2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6a9f3d36d_2_22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6a9f3d36d_2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f6a9f3d36d_2_23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6a9f3d36d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6a9f3d36d_2_2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6a9f3d36d_2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f6a9f3d36d_2_26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hyperlink" Target="https://github.com/Sbardelottoo/passos-magicos-datathon/tree/main" TargetMode="External"/><Relationship Id="rId5" Type="http://schemas.openxmlformats.org/officeDocument/2006/relationships/hyperlink" Target="https://paapps-magicos-datathon-mbjdeucxaqr7pkuodmftr6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navy.png"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6" y="857250"/>
            <a:ext cx="1338029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/>
        </p:nvSpPr>
        <p:spPr>
          <a:xfrm>
            <a:off x="617236" y="2091690"/>
            <a:ext cx="788691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Educação que transforma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617236" y="2846070"/>
            <a:ext cx="78869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Como os dados da PEDE mostram o impacto do programa — e antecipam</a:t>
            </a:r>
            <a:br>
              <a:rPr b="0" i="0" lang="pt-BR" sz="14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quais alunos precisam de ajuda antes da queda</a:t>
            </a:r>
            <a:endParaRPr sz="1100"/>
          </a:p>
        </p:txBody>
      </p:sp>
      <p:sp>
        <p:nvSpPr>
          <p:cNvPr id="133" name="Google Shape;133;p25"/>
          <p:cNvSpPr/>
          <p:nvPr/>
        </p:nvSpPr>
        <p:spPr>
          <a:xfrm>
            <a:off x="0" y="3943350"/>
            <a:ext cx="2194619" cy="41148"/>
          </a:xfrm>
          <a:prstGeom prst="rect">
            <a:avLst/>
          </a:prstGeom>
          <a:solidFill>
            <a:srgbClr val="E9A2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617236" y="4183380"/>
            <a:ext cx="78869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Associação Passos Mágicos · PEDE 2022–2024</a:t>
            </a:r>
            <a:br>
              <a:rPr b="0" i="0" lang="pt-BR" sz="10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Datathon PosTech — Fase 5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Três mensagens, se você só ler este slide</a:t>
            </a:r>
            <a:endParaRPr sz="1100"/>
          </a:p>
        </p:txBody>
      </p:sp>
      <p:sp>
        <p:nvSpPr>
          <p:cNvPr id="141" name="Google Shape;141;p26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Resumo executivo</a:t>
            </a:r>
            <a:endParaRPr sz="1100"/>
          </a:p>
        </p:txBody>
      </p:sp>
      <p:sp>
        <p:nvSpPr>
          <p:cNvPr id="142" name="Google Shape;142;p26"/>
          <p:cNvSpPr/>
          <p:nvPr/>
        </p:nvSpPr>
        <p:spPr>
          <a:xfrm>
            <a:off x="514364" y="1097280"/>
            <a:ext cx="425207" cy="425196"/>
          </a:xfrm>
          <a:prstGeom prst="ellipse">
            <a:avLst/>
          </a:prstGeom>
          <a:solidFill>
            <a:srgbClr val="E9A2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514364" y="1159002"/>
            <a:ext cx="42520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1131600" y="1083564"/>
            <a:ext cx="747541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O programa funciona.</a:t>
            </a:r>
            <a:endParaRPr sz="1100"/>
          </a:p>
        </p:txBody>
      </p:sp>
      <p:sp>
        <p:nvSpPr>
          <p:cNvPr id="145" name="Google Shape;145;p26"/>
          <p:cNvSpPr txBox="1"/>
          <p:nvPr/>
        </p:nvSpPr>
        <p:spPr>
          <a:xfrm>
            <a:off x="1131600" y="1426464"/>
            <a:ext cx="74754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A defasagem moderada/severa caiu de 22,2% para 8,0% em dois anos, e a melhora se confirma na coorte fixa — não é troca de alunos.</a:t>
            </a:r>
            <a:endParaRPr sz="1100"/>
          </a:p>
        </p:txBody>
      </p:sp>
      <p:sp>
        <p:nvSpPr>
          <p:cNvPr id="146" name="Google Shape;146;p26"/>
          <p:cNvSpPr/>
          <p:nvPr/>
        </p:nvSpPr>
        <p:spPr>
          <a:xfrm>
            <a:off x="514364" y="2276856"/>
            <a:ext cx="425207" cy="425196"/>
          </a:xfrm>
          <a:prstGeom prst="ellipse">
            <a:avLst/>
          </a:prstGeom>
          <a:solidFill>
            <a:srgbClr val="E9A2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14364" y="2338578"/>
            <a:ext cx="42520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148" name="Google Shape;148;p26"/>
          <p:cNvSpPr txBox="1"/>
          <p:nvPr/>
        </p:nvSpPr>
        <p:spPr>
          <a:xfrm>
            <a:off x="1131600" y="2263140"/>
            <a:ext cx="747541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Engajamento é a maior alavanca.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1131600" y="2606040"/>
            <a:ext cx="74754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IEG(Engajamento) e IDA(aprendizagem) puxam juntos o ponto de virada e a nota global (INDE). O efeito é cumulativo: agir em vários eixos rende muito mais.</a:t>
            </a:r>
            <a:endParaRPr sz="1100"/>
          </a:p>
        </p:txBody>
      </p:sp>
      <p:sp>
        <p:nvSpPr>
          <p:cNvPr id="150" name="Google Shape;150;p26"/>
          <p:cNvSpPr/>
          <p:nvPr/>
        </p:nvSpPr>
        <p:spPr>
          <a:xfrm>
            <a:off x="514364" y="3456432"/>
            <a:ext cx="425207" cy="425196"/>
          </a:xfrm>
          <a:prstGeom prst="ellipse">
            <a:avLst/>
          </a:prstGeom>
          <a:solidFill>
            <a:srgbClr val="E9A2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514364" y="3518154"/>
            <a:ext cx="42520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1131600" y="3442716"/>
            <a:ext cx="747541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Agora dá para agir antes da queda.</a:t>
            </a:r>
            <a:endParaRPr sz="1100"/>
          </a:p>
        </p:txBody>
      </p:sp>
      <p:sp>
        <p:nvSpPr>
          <p:cNvPr id="153" name="Google Shape;153;p26"/>
          <p:cNvSpPr txBox="1"/>
          <p:nvPr/>
        </p:nvSpPr>
        <p:spPr>
          <a:xfrm>
            <a:off x="1131600" y="3785616"/>
            <a:ext cx="74754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Um modelo preditivo identifica ~3 em cada 4 alunos que piorariam no ano seguinte, entregue como aplicação pronta para a equipe usar.</a:t>
            </a:r>
            <a:endParaRPr sz="1100"/>
          </a:p>
        </p:txBody>
      </p:sp>
      <p:sp>
        <p:nvSpPr>
          <p:cNvPr id="154" name="Google Shape;154;p26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pic>
        <p:nvPicPr>
          <p:cNvPr descr="logo_branco.png" id="155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desafio: transformar 3 anos de avaliações em decisão pedagógica</a:t>
            </a:r>
            <a:endParaRPr sz="1100"/>
          </a:p>
        </p:txBody>
      </p:sp>
      <p:sp>
        <p:nvSpPr>
          <p:cNvPr id="162" name="Google Shape;162;p27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Contexto e dados</a:t>
            </a:r>
            <a:endParaRPr sz="1100"/>
          </a:p>
        </p:txBody>
      </p:sp>
      <p:sp>
        <p:nvSpPr>
          <p:cNvPr id="163" name="Google Shape;163;p27"/>
          <p:cNvSpPr txBox="1"/>
          <p:nvPr/>
        </p:nvSpPr>
        <p:spPr>
          <a:xfrm>
            <a:off x="480073" y="1097280"/>
            <a:ext cx="8229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A Passos Mágicos usa a educação para mudar a vida de crianças em vulnerabilidade.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A PEDE mede 7 indicadores (IAN, IDA, IEG, IAA, IPS, IPP, IPV), sintetizados no INDE.</a:t>
            </a:r>
            <a:endParaRPr b="0" i="0" sz="1200" u="none" cap="none" strike="noStrike">
              <a:solidFill>
                <a:srgbClr val="333F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900"/>
              </a:spcBef>
              <a:spcAft>
                <a:spcPts val="0"/>
              </a:spcAft>
              <a:buClr>
                <a:srgbClr val="333F4C"/>
              </a:buClr>
              <a:buSzPts val="1200"/>
              <a:buFont typeface="Calibri"/>
              <a:buChar char="●"/>
            </a:pPr>
            <a:r>
              <a:rPr lang="pt-BR" sz="1200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IAN — adequação ao nível</a:t>
            </a:r>
            <a:endParaRPr sz="1200">
              <a:solidFill>
                <a:srgbClr val="333F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F4C"/>
              </a:buClr>
              <a:buSzPts val="1200"/>
              <a:buFont typeface="Calibri"/>
              <a:buChar char="●"/>
            </a:pPr>
            <a:r>
              <a:rPr lang="pt-BR" sz="1200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IDA — aprendizagem</a:t>
            </a:r>
            <a:endParaRPr sz="1200">
              <a:solidFill>
                <a:srgbClr val="333F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F4C"/>
              </a:buClr>
              <a:buSzPts val="1200"/>
              <a:buFont typeface="Calibri"/>
              <a:buChar char="●"/>
            </a:pPr>
            <a:r>
              <a:rPr lang="pt-BR" sz="1200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IEG — engajamento</a:t>
            </a:r>
            <a:endParaRPr sz="1200">
              <a:solidFill>
                <a:srgbClr val="333F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F4C"/>
              </a:buClr>
              <a:buSzPts val="1200"/>
              <a:buFont typeface="Calibri"/>
              <a:buChar char="●"/>
            </a:pPr>
            <a:r>
              <a:rPr lang="pt-BR" sz="1200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IAA — autoavaliação</a:t>
            </a:r>
            <a:endParaRPr sz="1200">
              <a:solidFill>
                <a:srgbClr val="333F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F4C"/>
              </a:buClr>
              <a:buSzPts val="1200"/>
              <a:buFont typeface="Calibri"/>
              <a:buChar char="●"/>
            </a:pPr>
            <a:r>
              <a:rPr lang="pt-BR" sz="1200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IPS — psicossocial</a:t>
            </a:r>
            <a:endParaRPr sz="1200">
              <a:solidFill>
                <a:srgbClr val="333F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F4C"/>
              </a:buClr>
              <a:buSzPts val="1200"/>
              <a:buFont typeface="Calibri"/>
              <a:buChar char="●"/>
            </a:pPr>
            <a:r>
              <a:rPr lang="pt-BR" sz="1200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IPP — psicopedagógico</a:t>
            </a:r>
            <a:endParaRPr sz="1200">
              <a:solidFill>
                <a:srgbClr val="333F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F4C"/>
              </a:buClr>
              <a:buSzPts val="1200"/>
              <a:buFont typeface="Calibri"/>
              <a:buChar char="●"/>
            </a:pPr>
            <a:r>
              <a:rPr lang="pt-BR" sz="1200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IPV — ponto de virada</a:t>
            </a:r>
            <a:endParaRPr sz="1200">
              <a:solidFill>
                <a:srgbClr val="333F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F4C"/>
              </a:buClr>
              <a:buSzPts val="1200"/>
              <a:buFont typeface="Calibri"/>
              <a:buChar char="●"/>
            </a:pPr>
            <a:r>
              <a:rPr lang="pt-BR" sz="1200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INDE — índice global (pondera todos os indicadores acima)</a:t>
            </a:r>
            <a:endParaRPr sz="1200">
              <a:solidFill>
                <a:srgbClr val="333F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Base analisada: 3.030 registros aluno-ano · 1.661 alunos · 2022 a 2024.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A chave RA permite acompanhar o mesmo aluno ao longo dos anos.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Nota metodológica: usamos a base real (abas 2022/2023/2024); o dicionário fornecido descreve um formato antigo e serviu como referência conceitual.</a:t>
            </a:r>
            <a:endParaRPr sz="1100"/>
          </a:p>
        </p:txBody>
      </p:sp>
      <p:sp>
        <p:nvSpPr>
          <p:cNvPr id="164" name="Google Shape;164;p27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pic>
        <p:nvPicPr>
          <p:cNvPr descr="logo_branco.png" id="165" name="Google Shape;1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anos de programa, em três números</a:t>
            </a:r>
            <a:endParaRPr sz="1100"/>
          </a:p>
        </p:txBody>
      </p:sp>
      <p:sp>
        <p:nvSpPr>
          <p:cNvPr id="172" name="Google Shape;172;p28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O impacto medido pela PEDE</a:t>
            </a:r>
            <a:endParaRPr sz="1100"/>
          </a:p>
        </p:txBody>
      </p:sp>
      <p:sp>
        <p:nvSpPr>
          <p:cNvPr id="173" name="Google Shape;173;p28"/>
          <p:cNvSpPr txBox="1"/>
          <p:nvPr/>
        </p:nvSpPr>
        <p:spPr>
          <a:xfrm>
            <a:off x="480073" y="1474470"/>
            <a:ext cx="26746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2022: 22,2%  →  2024:</a:t>
            </a:r>
            <a:endParaRPr sz="1100"/>
          </a:p>
        </p:txBody>
      </p:sp>
      <p:sp>
        <p:nvSpPr>
          <p:cNvPr id="174" name="Google Shape;174;p28"/>
          <p:cNvSpPr txBox="1"/>
          <p:nvPr/>
        </p:nvSpPr>
        <p:spPr>
          <a:xfrm>
            <a:off x="480073" y="1817370"/>
            <a:ext cx="2674691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2E9E5B"/>
                </a:solidFill>
                <a:latin typeface="Calibri"/>
                <a:ea typeface="Calibri"/>
                <a:cs typeface="Calibri"/>
                <a:sym typeface="Calibri"/>
              </a:rPr>
              <a:t>8,0%</a:t>
            </a:r>
            <a:endParaRPr sz="1100"/>
          </a:p>
        </p:txBody>
      </p:sp>
      <p:sp>
        <p:nvSpPr>
          <p:cNvPr id="175" name="Google Shape;175;p28"/>
          <p:cNvSpPr txBox="1"/>
          <p:nvPr/>
        </p:nvSpPr>
        <p:spPr>
          <a:xfrm>
            <a:off x="480073" y="2537460"/>
            <a:ext cx="26746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Defasagem moderada/severa</a:t>
            </a:r>
            <a:endParaRPr sz="1100"/>
          </a:p>
        </p:txBody>
      </p:sp>
      <p:sp>
        <p:nvSpPr>
          <p:cNvPr id="176" name="Google Shape;176;p28"/>
          <p:cNvSpPr txBox="1"/>
          <p:nvPr/>
        </p:nvSpPr>
        <p:spPr>
          <a:xfrm>
            <a:off x="480073" y="2825496"/>
            <a:ext cx="2674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queda de 14 pontos percentuais</a:t>
            </a:r>
            <a:endParaRPr sz="1100"/>
          </a:p>
        </p:txBody>
      </p:sp>
      <p:sp>
        <p:nvSpPr>
          <p:cNvPr id="177" name="Google Shape;177;p28"/>
          <p:cNvSpPr txBox="1"/>
          <p:nvPr/>
        </p:nvSpPr>
        <p:spPr>
          <a:xfrm>
            <a:off x="3237062" y="1474470"/>
            <a:ext cx="26746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2022: 55,6%  →  2024:</a:t>
            </a:r>
            <a:endParaRPr sz="1100"/>
          </a:p>
        </p:txBody>
      </p:sp>
      <p:sp>
        <p:nvSpPr>
          <p:cNvPr id="178" name="Google Shape;178;p28"/>
          <p:cNvSpPr txBox="1"/>
          <p:nvPr/>
        </p:nvSpPr>
        <p:spPr>
          <a:xfrm>
            <a:off x="3237062" y="1817370"/>
            <a:ext cx="2674691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68,0%</a:t>
            </a:r>
            <a:endParaRPr sz="1100"/>
          </a:p>
        </p:txBody>
      </p:sp>
      <p:sp>
        <p:nvSpPr>
          <p:cNvPr id="179" name="Google Shape;179;p28"/>
          <p:cNvSpPr txBox="1"/>
          <p:nvPr/>
        </p:nvSpPr>
        <p:spPr>
          <a:xfrm>
            <a:off x="3237062" y="2537460"/>
            <a:ext cx="26746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Alunos em pedras superiores</a:t>
            </a:r>
            <a:endParaRPr sz="1100"/>
          </a:p>
        </p:txBody>
      </p:sp>
      <p:sp>
        <p:nvSpPr>
          <p:cNvPr id="180" name="Google Shape;180;p28"/>
          <p:cNvSpPr txBox="1"/>
          <p:nvPr/>
        </p:nvSpPr>
        <p:spPr>
          <a:xfrm>
            <a:off x="3237062" y="2825496"/>
            <a:ext cx="2674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Ametista + Topázio</a:t>
            </a:r>
            <a:endParaRPr sz="1100"/>
          </a:p>
        </p:txBody>
      </p:sp>
      <p:sp>
        <p:nvSpPr>
          <p:cNvPr id="181" name="Google Shape;181;p28"/>
          <p:cNvSpPr txBox="1"/>
          <p:nvPr/>
        </p:nvSpPr>
        <p:spPr>
          <a:xfrm>
            <a:off x="5994052" y="1817370"/>
            <a:ext cx="2674691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9A23B"/>
                </a:solidFill>
                <a:latin typeface="Calibri"/>
                <a:ea typeface="Calibri"/>
                <a:cs typeface="Calibri"/>
                <a:sym typeface="Calibri"/>
              </a:rPr>
              <a:t>29%</a:t>
            </a:r>
            <a:endParaRPr sz="1100"/>
          </a:p>
        </p:txBody>
      </p:sp>
      <p:sp>
        <p:nvSpPr>
          <p:cNvPr id="182" name="Google Shape;182;p28"/>
          <p:cNvSpPr txBox="1"/>
          <p:nvPr/>
        </p:nvSpPr>
        <p:spPr>
          <a:xfrm>
            <a:off x="5994052" y="2537460"/>
            <a:ext cx="26746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Subiram de pedra</a:t>
            </a:r>
            <a:endParaRPr sz="1100"/>
          </a:p>
        </p:txBody>
      </p:sp>
      <p:sp>
        <p:nvSpPr>
          <p:cNvPr id="183" name="Google Shape;183;p28"/>
          <p:cNvSpPr txBox="1"/>
          <p:nvPr/>
        </p:nvSpPr>
        <p:spPr>
          <a:xfrm>
            <a:off x="5994052" y="2825496"/>
            <a:ext cx="2674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na coorte fixa de 468 alunos (2022→2024)</a:t>
            </a:r>
            <a:endParaRPr sz="1100"/>
          </a:p>
        </p:txBody>
      </p:sp>
      <p:sp>
        <p:nvSpPr>
          <p:cNvPr id="184" name="Google Shape;184;p28"/>
          <p:cNvSpPr/>
          <p:nvPr/>
        </p:nvSpPr>
        <p:spPr>
          <a:xfrm>
            <a:off x="617236" y="3669030"/>
            <a:ext cx="7886910" cy="20574"/>
          </a:xfrm>
          <a:prstGeom prst="rect">
            <a:avLst/>
          </a:prstGeom>
          <a:solidFill>
            <a:srgbClr val="E0E5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617236" y="384048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A coorte fixa (mesmos alunos nos três anos) confirma que a melhora é real — não é efeito da entrada e saída de alunos.</a:t>
            </a:r>
            <a:endParaRPr sz="1100"/>
          </a:p>
        </p:txBody>
      </p:sp>
      <p:sp>
        <p:nvSpPr>
          <p:cNvPr id="186" name="Google Shape;186;p28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pic>
        <p:nvPicPr>
          <p:cNvPr descr="logo_branco.png" id="187" name="Google Shape;1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defasagem caiu pela metade — e mais que dobrou o grupo adequado</a:t>
            </a:r>
            <a:endParaRPr sz="1100"/>
          </a:p>
        </p:txBody>
      </p:sp>
      <p:sp>
        <p:nvSpPr>
          <p:cNvPr id="194" name="Google Shape;194;p29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Adequação ao nível (IAN)</a:t>
            </a:r>
            <a:endParaRPr sz="1100"/>
          </a:p>
        </p:txBody>
      </p:sp>
      <p:sp>
        <p:nvSpPr>
          <p:cNvPr id="195" name="Google Shape;195;p29"/>
          <p:cNvSpPr txBox="1"/>
          <p:nvPr/>
        </p:nvSpPr>
        <p:spPr>
          <a:xfrm>
            <a:off x="411491" y="1062990"/>
            <a:ext cx="363483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Defasagem moderada/severa: 22,2% (2022) → 8,0% (2024).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Alunos adequados ou adiantados: 30,1% → 53,8%.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Ainda restam 93 alunos em defasagem moderada/severa.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→ Esse é exatamente o grupo que o modelo preditivo ajuda a priorizar.</a:t>
            </a:r>
            <a:endParaRPr sz="1100"/>
          </a:p>
        </p:txBody>
      </p:sp>
      <p:pic>
        <p:nvPicPr>
          <p:cNvPr descr="q1_defasagem_por_ano.png" id="196" name="Google Shape;1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3492" y="1439281"/>
            <a:ext cx="4629150" cy="257354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pic>
        <p:nvPicPr>
          <p:cNvPr descr="logo_branco.png" id="198" name="Google Shape;19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alunos sobem de nível: 130 mudaram de pedra para melhor</a:t>
            </a:r>
            <a:endParaRPr sz="1100"/>
          </a:p>
        </p:txBody>
      </p:sp>
      <p:sp>
        <p:nvSpPr>
          <p:cNvPr id="205" name="Google Shape;205;p30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Efetividade por pedra (Quartzo → Topázio)</a:t>
            </a:r>
            <a:endParaRPr sz="1100"/>
          </a:p>
        </p:txBody>
      </p:sp>
      <p:sp>
        <p:nvSpPr>
          <p:cNvPr id="206" name="Google Shape;206;p30"/>
          <p:cNvSpPr txBox="1"/>
          <p:nvPr/>
        </p:nvSpPr>
        <p:spPr>
          <a:xfrm>
            <a:off x="411491" y="1062990"/>
            <a:ext cx="363483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Pedras superiores (Ametista + Topázio): 55,6% → 68,0%.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Na coorte fixa, 130 alunos subiram de pedra entre 2022 e 2024.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A matriz de transição mostra mobilidade ascendente consistente.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→ Evidência direta do impacto do programa, aluno a aluno.</a:t>
            </a:r>
            <a:endParaRPr sz="1100"/>
          </a:p>
        </p:txBody>
      </p:sp>
      <p:pic>
        <p:nvPicPr>
          <p:cNvPr descr="q10_transicao_pedras.png" id="207" name="Google Shape;2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8947" y="1028700"/>
            <a:ext cx="4358246" cy="33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pic>
        <p:nvPicPr>
          <p:cNvPr descr="logo_branco.png" id="209" name="Google Shape;20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Desempenho e nota global crescem de forma consistente</a:t>
            </a:r>
            <a:endParaRPr sz="1100"/>
          </a:p>
        </p:txBody>
      </p:sp>
      <p:sp>
        <p:nvSpPr>
          <p:cNvPr id="216" name="Google Shape;216;p31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Desempenho acadêmico (IDA) e INDE</a:t>
            </a:r>
            <a:endParaRPr sz="1100"/>
          </a:p>
        </p:txBody>
      </p:sp>
      <p:sp>
        <p:nvSpPr>
          <p:cNvPr id="217" name="Google Shape;217;p31"/>
          <p:cNvSpPr txBox="1"/>
          <p:nvPr/>
        </p:nvSpPr>
        <p:spPr>
          <a:xfrm>
            <a:off x="411491" y="1062990"/>
            <a:ext cx="363483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INDE médio: 7,04 → 7,34 → 7,40.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IDA médio: 6,09 (2022) → 6,35 (2024).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Fases iniciais têm IDA mais alto; há queda nas fases de transição.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→ As transições de fase merecem acompanhamento reforçado.</a:t>
            </a:r>
            <a:endParaRPr sz="1100"/>
          </a:p>
        </p:txBody>
      </p:sp>
      <p:pic>
        <p:nvPicPr>
          <p:cNvPr descr="q10_evolucao_indicadores.png" id="218" name="Google Shape;2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3492" y="1445252"/>
            <a:ext cx="4629150" cy="256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1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/>
          </a:p>
        </p:txBody>
      </p:sp>
      <p:pic>
        <p:nvPicPr>
          <p:cNvPr descr="logo_branco.png" id="220" name="Google Shape;2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Engajar o aluno move desempenho, ponto de virada e nota global juntos</a:t>
            </a:r>
            <a:endParaRPr sz="1100"/>
          </a:p>
        </p:txBody>
      </p:sp>
      <p:sp>
        <p:nvSpPr>
          <p:cNvPr id="227" name="Google Shape;227;p32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O que move os resultados</a:t>
            </a:r>
            <a:endParaRPr sz="1100"/>
          </a:p>
        </p:txBody>
      </p:sp>
      <p:sp>
        <p:nvSpPr>
          <p:cNvPr id="228" name="Google Shape;228;p32"/>
          <p:cNvSpPr txBox="1"/>
          <p:nvPr/>
        </p:nvSpPr>
        <p:spPr>
          <a:xfrm>
            <a:off x="411491" y="1062990"/>
            <a:ext cx="363483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IEG × IDA: r = 0,54 · IEG × IPV: r = 0,56.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Maiores alavancas do INDE: IDA (0,79), IEG (0,75), IPV (0,72).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Principais motores do IPV: IPP (0,61), IEG (0,56), IDA (0,56).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→ Engajamento é o ponto de entrada de maior retorno.</a:t>
            </a:r>
            <a:endParaRPr sz="1100"/>
          </a:p>
        </p:txBody>
      </p:sp>
      <p:pic>
        <p:nvPicPr>
          <p:cNvPr descr="q8_drivers_inde.png" id="229" name="Google Shape;22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3492" y="1257900"/>
            <a:ext cx="4629150" cy="293630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/>
          </a:p>
        </p:txBody>
      </p:sp>
      <p:pic>
        <p:nvPicPr>
          <p:cNvPr descr="logo_branco.png" id="231" name="Google Shape;23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ganho é cumulativo: agir em vários eixos vale mais que em um só</a:t>
            </a:r>
            <a:endParaRPr sz="1100"/>
          </a:p>
        </p:txBody>
      </p:sp>
      <p:sp>
        <p:nvSpPr>
          <p:cNvPr id="238" name="Google Shape;238;p33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Multidimensionalidade dos indicadores</a:t>
            </a:r>
            <a:endParaRPr sz="1100"/>
          </a:p>
        </p:txBody>
      </p:sp>
      <p:sp>
        <p:nvSpPr>
          <p:cNvPr id="239" name="Google Shape;239;p33"/>
          <p:cNvSpPr txBox="1"/>
          <p:nvPr/>
        </p:nvSpPr>
        <p:spPr>
          <a:xfrm>
            <a:off x="411491" y="1062990"/>
            <a:ext cx="363483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Com IDA+IEG+IPS+IPP acima da mediana, o INDE médio vai a 8,42.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Quando nenhum está alto, o INDE médio fica em 6,04.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A regressão recupera os pesos da fórmula do INDE (R²=1,0): IDA e IEG pesam mais.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→ Intervenções combinadas rendem mais que esforço isolado.</a:t>
            </a:r>
            <a:endParaRPr sz="1100"/>
          </a:p>
        </p:txBody>
      </p:sp>
      <p:pic>
        <p:nvPicPr>
          <p:cNvPr descr="q8_combinacoes_inde.png" id="240" name="Google Shape;2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3492" y="1359470"/>
            <a:ext cx="4629150" cy="2733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3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/>
          </a:p>
        </p:txBody>
      </p:sp>
      <p:pic>
        <p:nvPicPr>
          <p:cNvPr descr="logo_branco.png" id="242" name="Google Shape;24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psicossocial cai antes do desempenho — é o alerta mais precoce</a:t>
            </a:r>
            <a:endParaRPr sz="1100"/>
          </a:p>
        </p:txBody>
      </p:sp>
      <p:sp>
        <p:nvSpPr>
          <p:cNvPr id="249" name="Google Shape;249;p34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Sinais de alerta (IPS, IAA, IPP)</a:t>
            </a:r>
            <a:endParaRPr sz="1100"/>
          </a:p>
        </p:txBody>
      </p:sp>
      <p:sp>
        <p:nvSpPr>
          <p:cNvPr id="250" name="Google Shape;250;p34"/>
          <p:cNvSpPr txBox="1"/>
          <p:nvPr/>
        </p:nvSpPr>
        <p:spPr>
          <a:xfrm>
            <a:off x="411491" y="1062990"/>
            <a:ext cx="363483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Quem piora no ano seguinte já tinha IPS mais baixo: 5,80 vs 6,39.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Autoavaliação descolada da realidade: 444 alunos com IAA≥8 e IDA≤5.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IPP capta dimensão complementar ao IAN (r≈0,12), não redundante.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→ Monitorar IPS funciona como termômetro antecipado.</a:t>
            </a:r>
            <a:endParaRPr sz="1100"/>
          </a:p>
        </p:txBody>
      </p:sp>
      <p:pic>
        <p:nvPicPr>
          <p:cNvPr descr="q5_ips_antecede_queda.png" id="251" name="Google Shape;2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3492" y="1142048"/>
            <a:ext cx="4629150" cy="316801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/>
          </a:p>
        </p:txBody>
      </p:sp>
      <p:pic>
        <p:nvPicPr>
          <p:cNvPr descr="logo_branco.png" id="253" name="Google Shape;25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617236" y="1988820"/>
            <a:ext cx="788691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diagnóstico à antecipação</a:t>
            </a:r>
            <a:endParaRPr sz="1100"/>
          </a:p>
        </p:txBody>
      </p:sp>
      <p:sp>
        <p:nvSpPr>
          <p:cNvPr id="260" name="Google Shape;260;p35"/>
          <p:cNvSpPr txBox="1"/>
          <p:nvPr/>
        </p:nvSpPr>
        <p:spPr>
          <a:xfrm>
            <a:off x="617236" y="2811779"/>
            <a:ext cx="78869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E9A23B"/>
                </a:solidFill>
                <a:latin typeface="Calibri"/>
                <a:ea typeface="Calibri"/>
                <a:cs typeface="Calibri"/>
                <a:sym typeface="Calibri"/>
              </a:rPr>
              <a:t>Um modelo que aponta quem vai piorar — antes de piorar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Prevemos a mudança futura, não o retrato de hoje</a:t>
            </a:r>
            <a:endParaRPr sz="1100"/>
          </a:p>
        </p:txBody>
      </p:sp>
      <p:sp>
        <p:nvSpPr>
          <p:cNvPr id="267" name="Google Shape;267;p36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Como o modelo foi construído</a:t>
            </a:r>
            <a:endParaRPr sz="1100"/>
          </a:p>
        </p:txBody>
      </p:sp>
      <p:sp>
        <p:nvSpPr>
          <p:cNvPr id="268" name="Google Shape;268;p36"/>
          <p:cNvSpPr txBox="1"/>
          <p:nvPr/>
        </p:nvSpPr>
        <p:spPr>
          <a:xfrm>
            <a:off x="480073" y="1097280"/>
            <a:ext cx="8229819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Alvo: probabilidade de a defasagem PIORAR no ano seguinte.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Usa os indicadores atuais do aluno + idade, fase e tempo de casa.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Feature engineering longitudinal via RA · split estratificado 75/25.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Três algoritmos comparados; vencedor: Random Forest.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Cuidado com vazamento: prever a defasagem atual seria trivial (ela deriva de idade e fase) — por isso prevemos a mudança.</a:t>
            </a:r>
            <a:endParaRPr sz="1100"/>
          </a:p>
        </p:txBody>
      </p:sp>
      <p:sp>
        <p:nvSpPr>
          <p:cNvPr id="269" name="Google Shape;269;p36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100"/>
          </a:p>
        </p:txBody>
      </p:sp>
      <p:pic>
        <p:nvPicPr>
          <p:cNvPr descr="logo_branco.png" id="270" name="Google Shape;27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modelo antecipa 3 em cada 4 alunos que vão piorar</a:t>
            </a:r>
            <a:endParaRPr sz="1100"/>
          </a:p>
        </p:txBody>
      </p:sp>
      <p:sp>
        <p:nvSpPr>
          <p:cNvPr id="277" name="Google Shape;277;p37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Resultados e transparência</a:t>
            </a:r>
            <a:endParaRPr sz="1100"/>
          </a:p>
        </p:txBody>
      </p:sp>
      <p:sp>
        <p:nvSpPr>
          <p:cNvPr id="278" name="Google Shape;278;p37"/>
          <p:cNvSpPr txBox="1"/>
          <p:nvPr/>
        </p:nvSpPr>
        <p:spPr>
          <a:xfrm>
            <a:off x="480073" y="1817370"/>
            <a:ext cx="2674691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0,88</a:t>
            </a:r>
            <a:endParaRPr sz="1100"/>
          </a:p>
        </p:txBody>
      </p:sp>
      <p:sp>
        <p:nvSpPr>
          <p:cNvPr id="279" name="Google Shape;279;p37"/>
          <p:cNvSpPr txBox="1"/>
          <p:nvPr/>
        </p:nvSpPr>
        <p:spPr>
          <a:xfrm>
            <a:off x="480073" y="2537460"/>
            <a:ext cx="26746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AUC (teste)</a:t>
            </a:r>
            <a:endParaRPr sz="1100"/>
          </a:p>
        </p:txBody>
      </p:sp>
      <p:sp>
        <p:nvSpPr>
          <p:cNvPr id="280" name="Google Shape;280;p37"/>
          <p:cNvSpPr txBox="1"/>
          <p:nvPr/>
        </p:nvSpPr>
        <p:spPr>
          <a:xfrm>
            <a:off x="480073" y="2825496"/>
            <a:ext cx="2674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capacidade de separar quem piora</a:t>
            </a:r>
            <a:endParaRPr sz="1100"/>
          </a:p>
        </p:txBody>
      </p:sp>
      <p:sp>
        <p:nvSpPr>
          <p:cNvPr id="281" name="Google Shape;281;p37"/>
          <p:cNvSpPr txBox="1"/>
          <p:nvPr/>
        </p:nvSpPr>
        <p:spPr>
          <a:xfrm>
            <a:off x="3237062" y="1817370"/>
            <a:ext cx="2674691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2E9E5B"/>
                </a:solidFill>
                <a:latin typeface="Calibri"/>
                <a:ea typeface="Calibri"/>
                <a:cs typeface="Calibri"/>
                <a:sym typeface="Calibri"/>
              </a:rPr>
              <a:t>73%</a:t>
            </a:r>
            <a:endParaRPr sz="1100"/>
          </a:p>
        </p:txBody>
      </p:sp>
      <p:sp>
        <p:nvSpPr>
          <p:cNvPr id="282" name="Google Shape;282;p37"/>
          <p:cNvSpPr txBox="1"/>
          <p:nvPr/>
        </p:nvSpPr>
        <p:spPr>
          <a:xfrm>
            <a:off x="3237062" y="2537460"/>
            <a:ext cx="26746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sz="1100"/>
          </a:p>
        </p:txBody>
      </p:sp>
      <p:sp>
        <p:nvSpPr>
          <p:cNvPr id="283" name="Google Shape;283;p37"/>
          <p:cNvSpPr txBox="1"/>
          <p:nvPr/>
        </p:nvSpPr>
        <p:spPr>
          <a:xfrm>
            <a:off x="3237062" y="2825496"/>
            <a:ext cx="2674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dos que pioram, quantos capturamos</a:t>
            </a:r>
            <a:endParaRPr sz="1100"/>
          </a:p>
        </p:txBody>
      </p:sp>
      <p:sp>
        <p:nvSpPr>
          <p:cNvPr id="284" name="Google Shape;284;p37"/>
          <p:cNvSpPr txBox="1"/>
          <p:nvPr/>
        </p:nvSpPr>
        <p:spPr>
          <a:xfrm>
            <a:off x="5994052" y="1817370"/>
            <a:ext cx="2674691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E9A23B"/>
                </a:solidFill>
                <a:latin typeface="Calibri"/>
                <a:ea typeface="Calibri"/>
                <a:cs typeface="Calibri"/>
                <a:sym typeface="Calibri"/>
              </a:rPr>
              <a:t>51%</a:t>
            </a:r>
            <a:endParaRPr sz="1100"/>
          </a:p>
        </p:txBody>
      </p:sp>
      <p:sp>
        <p:nvSpPr>
          <p:cNvPr id="285" name="Google Shape;285;p37"/>
          <p:cNvSpPr txBox="1"/>
          <p:nvPr/>
        </p:nvSpPr>
        <p:spPr>
          <a:xfrm>
            <a:off x="5994052" y="2537460"/>
            <a:ext cx="26746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Precisão</a:t>
            </a:r>
            <a:endParaRPr sz="1100"/>
          </a:p>
        </p:txBody>
      </p:sp>
      <p:sp>
        <p:nvSpPr>
          <p:cNvPr id="286" name="Google Shape;286;p37"/>
          <p:cNvSpPr txBox="1"/>
          <p:nvPr/>
        </p:nvSpPr>
        <p:spPr>
          <a:xfrm>
            <a:off x="5994052" y="2825496"/>
            <a:ext cx="2674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dos sinalizados, quantos de fato pioram</a:t>
            </a:r>
            <a:endParaRPr sz="1100"/>
          </a:p>
        </p:txBody>
      </p:sp>
      <p:sp>
        <p:nvSpPr>
          <p:cNvPr id="287" name="Google Shape;287;p37"/>
          <p:cNvSpPr txBox="1"/>
          <p:nvPr/>
        </p:nvSpPr>
        <p:spPr>
          <a:xfrm>
            <a:off x="617236" y="3669030"/>
            <a:ext cx="788691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Assumindo a limitação: cerca de metade dos alunos sinalizados são falsos alarmes. Por isso a ferramenta é de TRIAGEM — ela ordena a fila de atenção, e a decisão final continua sendo da equipe pedagógica.</a:t>
            </a:r>
            <a:endParaRPr sz="1100"/>
          </a:p>
        </p:txBody>
      </p:sp>
      <p:sp>
        <p:nvSpPr>
          <p:cNvPr id="288" name="Google Shape;288;p37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100"/>
          </a:p>
        </p:txBody>
      </p:sp>
      <p:pic>
        <p:nvPicPr>
          <p:cNvPr descr="logo_branco.png" id="289" name="Google Shape;2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8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 os indicadores pedagógicos, o ponto de virada é o que mais antecipa</a:t>
            </a:r>
            <a:endParaRPr sz="1100"/>
          </a:p>
        </p:txBody>
      </p:sp>
      <p:sp>
        <p:nvSpPr>
          <p:cNvPr id="296" name="Google Shape;296;p38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O que mais pesa na previsão</a:t>
            </a:r>
            <a:endParaRPr sz="1100"/>
          </a:p>
        </p:txBody>
      </p:sp>
      <p:sp>
        <p:nvSpPr>
          <p:cNvPr id="297" name="Google Shape;297;p38"/>
          <p:cNvSpPr txBox="1"/>
          <p:nvPr/>
        </p:nvSpPr>
        <p:spPr>
          <a:xfrm>
            <a:off x="411491" y="1062990"/>
            <a:ext cx="363483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Peso maior: defasagem atual, IAN, idade e fase (posição no ciclo).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Entre os pedagógicos, IPV é o mais preditivo — seguido de IDA.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Leitura de negócio: manter o aluno rumo ao ponto de virada protege.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→ Reforço de aprendizagem deve andar junto com suporte socioemocional.</a:t>
            </a:r>
            <a:endParaRPr sz="1100"/>
          </a:p>
        </p:txBody>
      </p:sp>
      <p:pic>
        <p:nvPicPr>
          <p:cNvPr descr="modelo_importancias.png" id="298" name="Google Shape;29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3492" y="1238114"/>
            <a:ext cx="4629150" cy="297588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8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100"/>
          </a:p>
        </p:txBody>
      </p:sp>
      <p:pic>
        <p:nvPicPr>
          <p:cNvPr descr="logo_branco.png" id="300" name="Google Shape;30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9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Entregue como ferramenta, não como relatório</a:t>
            </a:r>
            <a:endParaRPr sz="1100"/>
          </a:p>
        </p:txBody>
      </p:sp>
      <p:sp>
        <p:nvSpPr>
          <p:cNvPr id="307" name="Google Shape;307;p39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Aplicação publicada e pronta para uso</a:t>
            </a:r>
            <a:endParaRPr sz="1100"/>
          </a:p>
        </p:txBody>
      </p:sp>
      <p:sp>
        <p:nvSpPr>
          <p:cNvPr id="308" name="Google Shape;308;p39"/>
          <p:cNvSpPr txBox="1"/>
          <p:nvPr/>
        </p:nvSpPr>
        <p:spPr>
          <a:xfrm>
            <a:off x="480073" y="1097280"/>
            <a:ext cx="5075055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Simulador: risco de um perfil, com o PORQUÊ e as ações sugeridas.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▪  Turma priorizada: envie a planilha PEDE e receba a fila de atenção.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Histórico do aluno: trajetória 2022–2024 e risco atual.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Panorama: indicadores, pedras e evidências de impacto.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Sobre o modelo: desempenho, limitações e uso responsável.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▪  Relatório em PDF por aluno, pronto para a reunião pedagógica.</a:t>
            </a:r>
            <a:endParaRPr sz="1100"/>
          </a:p>
        </p:txBody>
      </p:sp>
      <p:sp>
        <p:nvSpPr>
          <p:cNvPr id="309" name="Google Shape;309;p39"/>
          <p:cNvSpPr txBox="1"/>
          <p:nvPr/>
        </p:nvSpPr>
        <p:spPr>
          <a:xfrm>
            <a:off x="5760874" y="1577340"/>
            <a:ext cx="301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Acesse a aplicação</a:t>
            </a:r>
            <a:endParaRPr sz="1100"/>
          </a:p>
        </p:txBody>
      </p:sp>
      <p:sp>
        <p:nvSpPr>
          <p:cNvPr id="310" name="Google Shape;310;p39"/>
          <p:cNvSpPr txBox="1"/>
          <p:nvPr/>
        </p:nvSpPr>
        <p:spPr>
          <a:xfrm>
            <a:off x="5692292" y="1954530"/>
            <a:ext cx="31547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paapps-magicos-datathon-mbjdeucxaqr7pkuodmftr6.streamlit.app</a:t>
            </a:r>
            <a:endParaRPr sz="1100"/>
          </a:p>
        </p:txBody>
      </p:sp>
      <p:sp>
        <p:nvSpPr>
          <p:cNvPr id="311" name="Google Shape;311;p39"/>
          <p:cNvSpPr txBox="1"/>
          <p:nvPr/>
        </p:nvSpPr>
        <p:spPr>
          <a:xfrm>
            <a:off x="5760874" y="2846070"/>
            <a:ext cx="301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Publicada no Streamlit</a:t>
            </a:r>
            <a:br>
              <a:rPr b="0" i="0" lang="pt-BR" sz="9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9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Community Cloud</a:t>
            </a:r>
            <a:endParaRPr sz="1100"/>
          </a:p>
        </p:txBody>
      </p:sp>
      <p:sp>
        <p:nvSpPr>
          <p:cNvPr id="312" name="Google Shape;312;p39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100"/>
          </a:p>
        </p:txBody>
      </p:sp>
      <p:pic>
        <p:nvPicPr>
          <p:cNvPr descr="logo_branco.png" id="313" name="Google Shape;31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/>
          <p:nvPr/>
        </p:nvSpPr>
        <p:spPr>
          <a:xfrm>
            <a:off x="0" y="0"/>
            <a:ext cx="9144015" cy="78867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 txBox="1"/>
          <p:nvPr/>
        </p:nvSpPr>
        <p:spPr>
          <a:xfrm>
            <a:off x="342909" y="123444"/>
            <a:ext cx="84355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Três prioridades para a Passos Mágicos</a:t>
            </a:r>
            <a:endParaRPr sz="1100"/>
          </a:p>
        </p:txBody>
      </p:sp>
      <p:sp>
        <p:nvSpPr>
          <p:cNvPr id="320" name="Google Shape;320;p40"/>
          <p:cNvSpPr txBox="1"/>
          <p:nvPr/>
        </p:nvSpPr>
        <p:spPr>
          <a:xfrm>
            <a:off x="342909" y="493776"/>
            <a:ext cx="843556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Recomendações</a:t>
            </a:r>
            <a:endParaRPr sz="1100"/>
          </a:p>
        </p:txBody>
      </p:sp>
      <p:sp>
        <p:nvSpPr>
          <p:cNvPr id="321" name="Google Shape;321;p40"/>
          <p:cNvSpPr/>
          <p:nvPr/>
        </p:nvSpPr>
        <p:spPr>
          <a:xfrm>
            <a:off x="514364" y="1131570"/>
            <a:ext cx="61724" cy="651510"/>
          </a:xfrm>
          <a:prstGeom prst="rect">
            <a:avLst/>
          </a:prstGeom>
          <a:solidFill>
            <a:srgbClr val="E9A2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0"/>
          <p:cNvSpPr txBox="1"/>
          <p:nvPr/>
        </p:nvSpPr>
        <p:spPr>
          <a:xfrm>
            <a:off x="754400" y="1097279"/>
            <a:ext cx="78183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1. Triagem anual com o modelo</a:t>
            </a:r>
            <a:endParaRPr sz="1100"/>
          </a:p>
        </p:txBody>
      </p:sp>
      <p:sp>
        <p:nvSpPr>
          <p:cNvPr id="323" name="Google Shape;323;p40"/>
          <p:cNvSpPr txBox="1"/>
          <p:nvPr/>
        </p:nvSpPr>
        <p:spPr>
          <a:xfrm>
            <a:off x="754400" y="1419605"/>
            <a:ext cx="781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Rodar a lista priorizada no início do ciclo e direcionar o acompanhamento para quem tem maior risco.</a:t>
            </a:r>
            <a:endParaRPr sz="1100"/>
          </a:p>
        </p:txBody>
      </p:sp>
      <p:sp>
        <p:nvSpPr>
          <p:cNvPr id="324" name="Google Shape;324;p40"/>
          <p:cNvSpPr/>
          <p:nvPr/>
        </p:nvSpPr>
        <p:spPr>
          <a:xfrm>
            <a:off x="514364" y="2057400"/>
            <a:ext cx="61724" cy="651510"/>
          </a:xfrm>
          <a:prstGeom prst="rect">
            <a:avLst/>
          </a:prstGeom>
          <a:solidFill>
            <a:srgbClr val="E9A2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754400" y="2023110"/>
            <a:ext cx="78183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2. IPS como termômetro precoce</a:t>
            </a:r>
            <a:endParaRPr sz="1100"/>
          </a:p>
        </p:txBody>
      </p:sp>
      <p:sp>
        <p:nvSpPr>
          <p:cNvPr id="326" name="Google Shape;326;p40"/>
          <p:cNvSpPr txBox="1"/>
          <p:nvPr/>
        </p:nvSpPr>
        <p:spPr>
          <a:xfrm>
            <a:off x="754400" y="2345436"/>
            <a:ext cx="781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Acompanhar quedas psicossociais: elas antecedem as quedas acadêmicas em um ano.</a:t>
            </a:r>
            <a:endParaRPr sz="1100"/>
          </a:p>
        </p:txBody>
      </p:sp>
      <p:sp>
        <p:nvSpPr>
          <p:cNvPr id="327" name="Google Shape;327;p40"/>
          <p:cNvSpPr/>
          <p:nvPr/>
        </p:nvSpPr>
        <p:spPr>
          <a:xfrm>
            <a:off x="514364" y="2983229"/>
            <a:ext cx="61724" cy="651510"/>
          </a:xfrm>
          <a:prstGeom prst="rect">
            <a:avLst/>
          </a:prstGeom>
          <a:solidFill>
            <a:srgbClr val="E9A2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0"/>
          <p:cNvSpPr txBox="1"/>
          <p:nvPr/>
        </p:nvSpPr>
        <p:spPr>
          <a:xfrm>
            <a:off x="754400" y="2948940"/>
            <a:ext cx="78183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rgbClr val="0A5FA8"/>
                </a:solidFill>
                <a:latin typeface="Calibri"/>
                <a:ea typeface="Calibri"/>
                <a:cs typeface="Calibri"/>
                <a:sym typeface="Calibri"/>
              </a:rPr>
              <a:t>3. Investir em engajamento (IEG/IPV)</a:t>
            </a:r>
            <a:endParaRPr sz="1100"/>
          </a:p>
        </p:txBody>
      </p:sp>
      <p:sp>
        <p:nvSpPr>
          <p:cNvPr id="329" name="Google Shape;329;p40"/>
          <p:cNvSpPr txBox="1"/>
          <p:nvPr/>
        </p:nvSpPr>
        <p:spPr>
          <a:xfrm>
            <a:off x="754400" y="3271266"/>
            <a:ext cx="781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333F4C"/>
                </a:solidFill>
                <a:latin typeface="Calibri"/>
                <a:ea typeface="Calibri"/>
                <a:cs typeface="Calibri"/>
                <a:sym typeface="Calibri"/>
              </a:rPr>
              <a:t>É a alavanca de maior retorno sobre a nota global — e protege contra a defasagem.</a:t>
            </a:r>
            <a:endParaRPr sz="1100"/>
          </a:p>
        </p:txBody>
      </p:sp>
      <p:sp>
        <p:nvSpPr>
          <p:cNvPr id="330" name="Google Shape;330;p40"/>
          <p:cNvSpPr txBox="1"/>
          <p:nvPr/>
        </p:nvSpPr>
        <p:spPr>
          <a:xfrm>
            <a:off x="514364" y="4011930"/>
            <a:ext cx="816123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Também recomendamos: atenção às fases de transição (onde o IDA cai), trabalho de autopercepção com alunos de IAA alto e IDA baixo, e padronização da coleta (fase, gênero, IPP) para fortalecer as próximas análises.</a:t>
            </a:r>
            <a:endParaRPr sz="1100"/>
          </a:p>
        </p:txBody>
      </p:sp>
      <p:sp>
        <p:nvSpPr>
          <p:cNvPr id="331" name="Google Shape;331;p40"/>
          <p:cNvSpPr txBox="1"/>
          <p:nvPr/>
        </p:nvSpPr>
        <p:spPr>
          <a:xfrm>
            <a:off x="342909" y="4766310"/>
            <a:ext cx="685818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100"/>
          </a:p>
        </p:txBody>
      </p:sp>
      <p:pic>
        <p:nvPicPr>
          <p:cNvPr descr="logo_branco.png" id="332" name="Google Shape;33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983" y="4629150"/>
            <a:ext cx="490611" cy="3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navy.png" id="338" name="Google Shape;3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6" y="754380"/>
            <a:ext cx="1070423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 txBox="1"/>
          <p:nvPr/>
        </p:nvSpPr>
        <p:spPr>
          <a:xfrm>
            <a:off x="617236" y="1783080"/>
            <a:ext cx="7887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Acessos</a:t>
            </a:r>
            <a:endParaRPr sz="1100"/>
          </a:p>
        </p:txBody>
      </p:sp>
      <p:sp>
        <p:nvSpPr>
          <p:cNvPr id="340" name="Google Shape;340;p41"/>
          <p:cNvSpPr txBox="1"/>
          <p:nvPr/>
        </p:nvSpPr>
        <p:spPr>
          <a:xfrm>
            <a:off x="685818" y="2894076"/>
            <a:ext cx="768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lang="pt-BR" sz="1200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Diretório Github - </a:t>
            </a:r>
            <a:r>
              <a:rPr lang="pt-BR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Link</a:t>
            </a:r>
            <a:endParaRPr sz="1100"/>
          </a:p>
        </p:txBody>
      </p:sp>
      <p:sp>
        <p:nvSpPr>
          <p:cNvPr id="341" name="Google Shape;341;p41"/>
          <p:cNvSpPr txBox="1"/>
          <p:nvPr/>
        </p:nvSpPr>
        <p:spPr>
          <a:xfrm>
            <a:off x="617236" y="4320540"/>
            <a:ext cx="78869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E9A23B"/>
                </a:solidFill>
                <a:latin typeface="Calibri"/>
                <a:ea typeface="Calibri"/>
                <a:cs typeface="Calibri"/>
                <a:sym typeface="Calibri"/>
              </a:rPr>
              <a:t>Aplicação: paapps-magicos-datathon-mbjdeucxaqr7pkuodmftr6.streamlit.app  ·  Código, notebook e análises no repositório do projeto.</a:t>
            </a:r>
            <a:endParaRPr sz="1100"/>
          </a:p>
        </p:txBody>
      </p:sp>
      <p:sp>
        <p:nvSpPr>
          <p:cNvPr id="342" name="Google Shape;342;p41"/>
          <p:cNvSpPr txBox="1"/>
          <p:nvPr/>
        </p:nvSpPr>
        <p:spPr>
          <a:xfrm>
            <a:off x="685818" y="2468880"/>
            <a:ext cx="768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lang="pt-BR" sz="1200">
                <a:solidFill>
                  <a:srgbClr val="C5D3E8"/>
                </a:solidFill>
                <a:latin typeface="Calibri"/>
                <a:ea typeface="Calibri"/>
                <a:cs typeface="Calibri"/>
                <a:sym typeface="Calibri"/>
              </a:rPr>
              <a:t>App streamlit - </a:t>
            </a:r>
            <a:r>
              <a:rPr lang="pt-BR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